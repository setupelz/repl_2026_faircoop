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A7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8FA619-30BB-1A45-BECC-DACDFE723C5A}" v="3" dt="2026-07-07T13:00:51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>
        <p:scale>
          <a:sx n="123" d="100"/>
          <a:sy n="123" d="100"/>
        </p:scale>
        <p:origin x="-2240" y="-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LZ Setu" userId="ecb36130-908b-47f4-9887-226a85d9bef9" providerId="ADAL" clId="{85302FC9-9D8C-564E-AA14-83EC8DCF19AA}"/>
    <pc:docChg chg="undo custSel modSld">
      <pc:chgData name="PELZ Setu" userId="ecb36130-908b-47f4-9887-226a85d9bef9" providerId="ADAL" clId="{85302FC9-9D8C-564E-AA14-83EC8DCF19AA}" dt="2026-07-07T13:03:23.489" v="144" actId="692"/>
      <pc:docMkLst>
        <pc:docMk/>
      </pc:docMkLst>
      <pc:sldChg chg="addSp delSp modSp mod">
        <pc:chgData name="PELZ Setu" userId="ecb36130-908b-47f4-9887-226a85d9bef9" providerId="ADAL" clId="{85302FC9-9D8C-564E-AA14-83EC8DCF19AA}" dt="2026-07-07T13:03:23.489" v="144" actId="692"/>
        <pc:sldMkLst>
          <pc:docMk/>
          <pc:sldMk cId="3205513645" sldId="264"/>
        </pc:sldMkLst>
        <pc:spChg chg="mod">
          <ac:chgData name="PELZ Setu" userId="ecb36130-908b-47f4-9887-226a85d9bef9" providerId="ADAL" clId="{85302FC9-9D8C-564E-AA14-83EC8DCF19AA}" dt="2026-07-07T13:02:18.697" v="100" actId="1076"/>
          <ac:spMkLst>
            <pc:docMk/>
            <pc:sldMk cId="3205513645" sldId="264"/>
            <ac:spMk id="3" creationId="{D9E60EBA-FAF9-DD44-9B61-9B56CBA00C6D}"/>
          </ac:spMkLst>
        </pc:spChg>
        <pc:spChg chg="mod">
          <ac:chgData name="PELZ Setu" userId="ecb36130-908b-47f4-9887-226a85d9bef9" providerId="ADAL" clId="{85302FC9-9D8C-564E-AA14-83EC8DCF19AA}" dt="2026-07-07T13:00:45.064" v="5" actId="1036"/>
          <ac:spMkLst>
            <pc:docMk/>
            <pc:sldMk cId="3205513645" sldId="264"/>
            <ac:spMk id="6" creationId="{51A08D0E-343D-5140-89C8-525DEA2832BA}"/>
          </ac:spMkLst>
        </pc:spChg>
        <pc:spChg chg="mod">
          <ac:chgData name="PELZ Setu" userId="ecb36130-908b-47f4-9887-226a85d9bef9" providerId="ADAL" clId="{85302FC9-9D8C-564E-AA14-83EC8DCF19AA}" dt="2026-07-07T13:00:45.064" v="5" actId="1036"/>
          <ac:spMkLst>
            <pc:docMk/>
            <pc:sldMk cId="3205513645" sldId="264"/>
            <ac:spMk id="7" creationId="{8D7C2B0B-F666-D647-9005-0BD31B4A87EC}"/>
          </ac:spMkLst>
        </pc:spChg>
        <pc:spChg chg="mod">
          <ac:chgData name="PELZ Setu" userId="ecb36130-908b-47f4-9887-226a85d9bef9" providerId="ADAL" clId="{85302FC9-9D8C-564E-AA14-83EC8DCF19AA}" dt="2026-07-07T13:00:45.064" v="5" actId="1036"/>
          <ac:spMkLst>
            <pc:docMk/>
            <pc:sldMk cId="3205513645" sldId="264"/>
            <ac:spMk id="8" creationId="{3EC5B34E-434E-2146-9CE8-DA5D557E50FB}"/>
          </ac:spMkLst>
        </pc:spChg>
        <pc:spChg chg="mod">
          <ac:chgData name="PELZ Setu" userId="ecb36130-908b-47f4-9887-226a85d9bef9" providerId="ADAL" clId="{85302FC9-9D8C-564E-AA14-83EC8DCF19AA}" dt="2026-07-07T13:00:45.064" v="5" actId="1036"/>
          <ac:spMkLst>
            <pc:docMk/>
            <pc:sldMk cId="3205513645" sldId="264"/>
            <ac:spMk id="9" creationId="{E5C83427-1B1E-6D4A-BDE4-51C4F55F0852}"/>
          </ac:spMkLst>
        </pc:spChg>
        <pc:spChg chg="add mod">
          <ac:chgData name="PELZ Setu" userId="ecb36130-908b-47f4-9887-226a85d9bef9" providerId="ADAL" clId="{85302FC9-9D8C-564E-AA14-83EC8DCF19AA}" dt="2026-07-07T13:00:47.442" v="6"/>
          <ac:spMkLst>
            <pc:docMk/>
            <pc:sldMk cId="3205513645" sldId="264"/>
            <ac:spMk id="267" creationId="{E82B0F29-DD3A-C986-96BE-7409D1F3CA49}"/>
          </ac:spMkLst>
        </pc:spChg>
        <pc:spChg chg="add mod">
          <ac:chgData name="PELZ Setu" userId="ecb36130-908b-47f4-9887-226a85d9bef9" providerId="ADAL" clId="{85302FC9-9D8C-564E-AA14-83EC8DCF19AA}" dt="2026-07-07T13:00:47.442" v="6"/>
          <ac:spMkLst>
            <pc:docMk/>
            <pc:sldMk cId="3205513645" sldId="264"/>
            <ac:spMk id="269" creationId="{B20E222E-3CC5-8F55-65C3-F6D61E4F3C2F}"/>
          </ac:spMkLst>
        </pc:spChg>
        <pc:spChg chg="add mod">
          <ac:chgData name="PELZ Setu" userId="ecb36130-908b-47f4-9887-226a85d9bef9" providerId="ADAL" clId="{85302FC9-9D8C-564E-AA14-83EC8DCF19AA}" dt="2026-07-07T13:00:47.442" v="6"/>
          <ac:spMkLst>
            <pc:docMk/>
            <pc:sldMk cId="3205513645" sldId="264"/>
            <ac:spMk id="270" creationId="{FDC01B31-EC85-C97F-CD90-AA861228F44D}"/>
          </ac:spMkLst>
        </pc:spChg>
        <pc:spChg chg="add mod">
          <ac:chgData name="PELZ Setu" userId="ecb36130-908b-47f4-9887-226a85d9bef9" providerId="ADAL" clId="{85302FC9-9D8C-564E-AA14-83EC8DCF19AA}" dt="2026-07-07T13:00:47.442" v="6"/>
          <ac:spMkLst>
            <pc:docMk/>
            <pc:sldMk cId="3205513645" sldId="264"/>
            <ac:spMk id="279" creationId="{18B18064-7374-092D-F37E-E55AB662CA2F}"/>
          </ac:spMkLst>
        </pc:spChg>
        <pc:spChg chg="add mod">
          <ac:chgData name="PELZ Setu" userId="ecb36130-908b-47f4-9887-226a85d9bef9" providerId="ADAL" clId="{85302FC9-9D8C-564E-AA14-83EC8DCF19AA}" dt="2026-07-07T13:00:47.442" v="6"/>
          <ac:spMkLst>
            <pc:docMk/>
            <pc:sldMk cId="3205513645" sldId="264"/>
            <ac:spMk id="281" creationId="{489101A8-3DEE-1CCE-DC17-D188ABBAC609}"/>
          </ac:spMkLst>
        </pc:spChg>
        <pc:spChg chg="add mod">
          <ac:chgData name="PELZ Setu" userId="ecb36130-908b-47f4-9887-226a85d9bef9" providerId="ADAL" clId="{85302FC9-9D8C-564E-AA14-83EC8DCF19AA}" dt="2026-07-07T13:00:47.442" v="6"/>
          <ac:spMkLst>
            <pc:docMk/>
            <pc:sldMk cId="3205513645" sldId="264"/>
            <ac:spMk id="289" creationId="{3D9B10DB-5239-B72C-4577-95FC55839917}"/>
          </ac:spMkLst>
        </pc:spChg>
        <pc:spChg chg="add mod">
          <ac:chgData name="PELZ Setu" userId="ecb36130-908b-47f4-9887-226a85d9bef9" providerId="ADAL" clId="{85302FC9-9D8C-564E-AA14-83EC8DCF19AA}" dt="2026-07-07T13:00:47.442" v="6"/>
          <ac:spMkLst>
            <pc:docMk/>
            <pc:sldMk cId="3205513645" sldId="264"/>
            <ac:spMk id="339" creationId="{CF9AC056-9A51-D15F-CC5B-770AC59F0363}"/>
          </ac:spMkLst>
        </pc:spChg>
        <pc:spChg chg="add mod">
          <ac:chgData name="PELZ Setu" userId="ecb36130-908b-47f4-9887-226a85d9bef9" providerId="ADAL" clId="{85302FC9-9D8C-564E-AA14-83EC8DCF19AA}" dt="2026-07-07T13:00:47.442" v="6"/>
          <ac:spMkLst>
            <pc:docMk/>
            <pc:sldMk cId="3205513645" sldId="264"/>
            <ac:spMk id="357" creationId="{BEFEDCEB-8438-44FF-0381-1027B7AA5314}"/>
          </ac:spMkLst>
        </pc:spChg>
        <pc:spChg chg="add mod">
          <ac:chgData name="PELZ Setu" userId="ecb36130-908b-47f4-9887-226a85d9bef9" providerId="ADAL" clId="{85302FC9-9D8C-564E-AA14-83EC8DCF19AA}" dt="2026-07-07T13:00:47.442" v="6"/>
          <ac:spMkLst>
            <pc:docMk/>
            <pc:sldMk cId="3205513645" sldId="264"/>
            <ac:spMk id="368" creationId="{C9118525-6CE3-71B1-5A80-365C07D1E78A}"/>
          </ac:spMkLst>
        </pc:spChg>
        <pc:spChg chg="add mod">
          <ac:chgData name="PELZ Setu" userId="ecb36130-908b-47f4-9887-226a85d9bef9" providerId="ADAL" clId="{85302FC9-9D8C-564E-AA14-83EC8DCF19AA}" dt="2026-07-07T13:00:47.442" v="6"/>
          <ac:spMkLst>
            <pc:docMk/>
            <pc:sldMk cId="3205513645" sldId="264"/>
            <ac:spMk id="370" creationId="{B9BA48A2-2C75-5134-FC28-4866287736EE}"/>
          </ac:spMkLst>
        </pc:spChg>
        <pc:spChg chg="add mod">
          <ac:chgData name="PELZ Setu" userId="ecb36130-908b-47f4-9887-226a85d9bef9" providerId="ADAL" clId="{85302FC9-9D8C-564E-AA14-83EC8DCF19AA}" dt="2026-07-07T13:01:10.694" v="87" actId="14100"/>
          <ac:spMkLst>
            <pc:docMk/>
            <pc:sldMk cId="3205513645" sldId="264"/>
            <ac:spMk id="372" creationId="{06F33C42-D3BA-22C7-0698-039E10B6693D}"/>
          </ac:spMkLst>
        </pc:spChg>
        <pc:spChg chg="add mod">
          <ac:chgData name="PELZ Setu" userId="ecb36130-908b-47f4-9887-226a85d9bef9" providerId="ADAL" clId="{85302FC9-9D8C-564E-AA14-83EC8DCF19AA}" dt="2026-07-07T13:03:23.489" v="144" actId="692"/>
          <ac:spMkLst>
            <pc:docMk/>
            <pc:sldMk cId="3205513645" sldId="264"/>
            <ac:spMk id="375" creationId="{0B370EE9-2329-0D03-6AC1-915E3B93DFA3}"/>
          </ac:spMkLst>
        </pc:spChg>
        <pc:cxnChg chg="add del">
          <ac:chgData name="PELZ Setu" userId="ecb36130-908b-47f4-9887-226a85d9bef9" providerId="ADAL" clId="{85302FC9-9D8C-564E-AA14-83EC8DCF19AA}" dt="2026-07-07T13:01:51.779" v="89" actId="478"/>
          <ac:cxnSpMkLst>
            <pc:docMk/>
            <pc:sldMk cId="3205513645" sldId="264"/>
            <ac:cxnSpMk id="374" creationId="{9A760E3B-A948-3243-12AF-8D4837B354B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0A5CA-C19F-FB41-BDFF-ED5C5C70545B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63F5B-56BC-A741-9F75-470F2042C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56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63F5B-56BC-A741-9F75-470F2042C5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9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17AF-3564-5A45-E3C6-3C04E2007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3952F-BDAC-DC1A-0594-599034D3C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D635C-7F9B-86A4-974F-8EAF4482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0C3C-CD1B-A547-9ECF-86E8A7F3B6C5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13EA4-EAB1-3FE6-67E2-77695C6D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5E78-4EC2-047F-4AF2-C5709BE4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0941-AABA-3A4D-A1CB-323357B6B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7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4B7A-0A3C-3DEE-2231-06B780928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4B134-EA04-DF54-5465-5881764F1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C970F-71DA-2709-D67B-7B7411D7F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0C3C-CD1B-A547-9ECF-86E8A7F3B6C5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304F6-2F2D-856F-BDAF-FF93DA0D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0EACD-6F48-D266-0AAC-DFD03D8A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0941-AABA-3A4D-A1CB-323357B6B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5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661D3-84A1-674E-C5DF-068FCC1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B3336-D2C8-1010-F59E-669D8C1AE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1735B-2193-D1D1-E7AC-9F28BEA1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0C3C-CD1B-A547-9ECF-86E8A7F3B6C5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4CB0F-7C9E-EBD2-F43C-925E24C3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D2F91-751D-B558-CD63-88C5862C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0941-AABA-3A4D-A1CB-323357B6B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1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546A-5B2D-C662-0490-1B9D7B98C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2B72F-2019-7A70-16D0-2B7AC6B38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BFCAE-B7A4-7FF8-3510-6257D5358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06595-CBE0-8955-A118-EBE89B81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0C3C-CD1B-A547-9ECF-86E8A7F3B6C5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2D675-335A-EE28-5624-9142478FC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8134D-19DD-067A-0049-DC6254DB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0941-AABA-3A4D-A1CB-323357B6B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1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5B170-5F44-7EAF-8033-67A4B313F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47558-E4F4-340A-750E-1BB84160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B6187-EA2F-28C9-890C-CABB3A0CA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228CC-23E6-58F3-9780-3645430C1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66FCBE-0F0D-5640-845B-73E0EC052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8289E4-F6B0-8526-7771-265196A54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0C3C-CD1B-A547-9ECF-86E8A7F3B6C5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04D6EE-A25D-4E26-EED1-E438BD9F7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E008E1-D6B4-806E-1141-F2A90C577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0941-AABA-3A4D-A1CB-323357B6B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15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A9B1-D77A-743B-46BD-A6626EF1F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5A77AD-8EE2-EB50-28D5-E59D09E63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0C3C-CD1B-A547-9ECF-86E8A7F3B6C5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CC568-D9DD-5588-3234-469C72E6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EE8ED-809E-AF10-5E0F-BDE4F3AF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0941-AABA-3A4D-A1CB-323357B6B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9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83809-5EE6-691C-3B08-C4D90B03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0C3C-CD1B-A547-9ECF-86E8A7F3B6C5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40421C-EA42-BA44-EFAB-18189F35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170B5-2472-94D1-AF79-57A06F88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0941-AABA-3A4D-A1CB-323357B6B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73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6176B-C85B-3899-D7DB-2F0C0B4DD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D36B8-AC76-D4B1-DE92-FC861B0CB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FEC3C-BEB9-7DC0-F383-EBF30B025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0B56C-65DC-0291-DF1C-43DC9041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0C3C-CD1B-A547-9ECF-86E8A7F3B6C5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D11DE-E7B8-DB06-12E8-11125544E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D4E20-3286-E05E-E70D-0B3AB3F16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0941-AABA-3A4D-A1CB-323357B6B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9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BB62-1796-62E2-B4DA-75D3A4F0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ACE1F-4A73-73F9-B0C2-B4894EC20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AB49B-586A-2B33-DB2B-2E9671017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8D691-22EE-790A-F146-07F183F2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0C3C-CD1B-A547-9ECF-86E8A7F3B6C5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27425-1476-AE95-833C-A3571D2D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BB36E-A237-71FC-E52B-49D661A37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0941-AABA-3A4D-A1CB-323357B6B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9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B1C7-1A8D-8FD8-AC5B-7A7305A6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80D1AB-E284-28B4-9E49-737CF3471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0ACBE-FC19-8CA9-02A6-C2E146B1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0C3C-CD1B-A547-9ECF-86E8A7F3B6C5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23067-196A-80B6-B210-733C59255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90A8A-67CC-89E2-CC5E-D93042834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0941-AABA-3A4D-A1CB-323357B6B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09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B459B-1A62-EE32-EA5E-2C5D80A83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29F74-086C-9DDD-EBEB-4C6515C14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ECAB8-F39B-FE72-B951-FB3B12B65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0C3C-CD1B-A547-9ECF-86E8A7F3B6C5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E773F-E38B-026F-D0D9-F5D82078D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BFE47-5EFB-E1C9-669A-2EDD3A5F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0941-AABA-3A4D-A1CB-323357B6B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7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E04E7-3367-9D1D-CAC4-E2B7B34C3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DD579-8AD2-B74E-5D2B-E1E66B219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D5F96-9D98-4393-76B8-943F1926B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40C3C-CD1B-A547-9ECF-86E8A7F3B6C5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D3A30-ECCC-60C5-CC77-370B245ED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11639-934D-43C0-8CA1-0F931423F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E0941-AABA-3A4D-A1CB-323357B6B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062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B">
            <a:extLst>
              <a:ext uri="{FF2B5EF4-FFF2-40B4-BE49-F238E27FC236}">
                <a16:creationId xmlns:a16="http://schemas.microsoft.com/office/drawing/2014/main" id="{D9E60EBA-FAF9-DD44-9B61-9B56CBA00C6D}"/>
              </a:ext>
            </a:extLst>
          </p:cNvPr>
          <p:cNvSpPr/>
          <p:nvPr/>
        </p:nvSpPr>
        <p:spPr>
          <a:xfrm>
            <a:off x="7213600" y="457199"/>
            <a:ext cx="4419600" cy="5740401"/>
          </a:xfrm>
          <a:prstGeom prst="rect">
            <a:avLst/>
          </a:prstGeom>
          <a:solidFill>
            <a:srgbClr val="FBFBFB"/>
          </a:solidFill>
          <a:ln w="12700" cap="flat" cmpd="sng" algn="ctr">
            <a:solidFill>
              <a:srgbClr val="8C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/>
          </a:p>
        </p:txBody>
      </p:sp>
      <p:sp>
        <p:nvSpPr>
          <p:cNvPr id="257" name="b2_red">
            <a:extLst>
              <a:ext uri="{FF2B5EF4-FFF2-40B4-BE49-F238E27FC236}">
                <a16:creationId xmlns:a16="http://schemas.microsoft.com/office/drawing/2014/main" id="{B4ED09BB-6DE4-73CF-F0F6-3F5B9D5069F0}"/>
              </a:ext>
            </a:extLst>
          </p:cNvPr>
          <p:cNvSpPr/>
          <p:nvPr/>
        </p:nvSpPr>
        <p:spPr>
          <a:xfrm>
            <a:off x="7874000" y="3494313"/>
            <a:ext cx="3403600" cy="1676400"/>
          </a:xfrm>
          <a:custGeom>
            <a:avLst/>
            <a:gdLst/>
            <a:ahLst/>
            <a:cxnLst/>
            <a:rect l="0" t="0" r="2680" b="1320"/>
            <a:pathLst>
              <a:path w="2680" h="1320">
                <a:moveTo>
                  <a:pt x="0" y="1300"/>
                </a:moveTo>
                <a:cubicBezTo>
                  <a:pt x="500" y="380"/>
                  <a:pt x="1500" y="0"/>
                  <a:pt x="2680" y="210"/>
                </a:cubicBezTo>
              </a:path>
            </a:pathLst>
          </a:cu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12" name="b1_curve"/>
          <p:cNvSpPr/>
          <p:nvPr/>
        </p:nvSpPr>
        <p:spPr>
          <a:xfrm>
            <a:off x="7975600" y="1193798"/>
            <a:ext cx="3200399" cy="1651000"/>
          </a:xfrm>
          <a:custGeom>
            <a:avLst/>
            <a:gdLst/>
            <a:ahLst/>
            <a:cxnLst/>
            <a:rect l="0" t="0" r="2600" b="1300"/>
            <a:pathLst>
              <a:path w="2600" h="1300">
                <a:moveTo>
                  <a:pt x="0" y="0"/>
                </a:moveTo>
                <a:cubicBezTo>
                  <a:pt x="70" y="780"/>
                  <a:pt x="800" y="1274"/>
                  <a:pt x="2600" y="1300"/>
                </a:cubicBezTo>
              </a:path>
            </a:pathLst>
          </a:custGeom>
          <a:noFill/>
          <a:ln w="34925" cap="rnd">
            <a:solidFill>
              <a:srgbClr val="BFBFBF"/>
            </a:solidFill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" name="pA">
            <a:extLst>
              <a:ext uri="{FF2B5EF4-FFF2-40B4-BE49-F238E27FC236}">
                <a16:creationId xmlns:a16="http://schemas.microsoft.com/office/drawing/2014/main" id="{3341A2D7-CD72-BA44-A767-B54FB0E48DA3}"/>
              </a:ext>
            </a:extLst>
          </p:cNvPr>
          <p:cNvSpPr/>
          <p:nvPr/>
        </p:nvSpPr>
        <p:spPr>
          <a:xfrm>
            <a:off x="673100" y="457201"/>
            <a:ext cx="6350000" cy="5740400"/>
          </a:xfrm>
          <a:prstGeom prst="rect">
            <a:avLst/>
          </a:prstGeom>
          <a:solidFill>
            <a:srgbClr val="FBFBFB"/>
          </a:solidFill>
          <a:ln w="12700" cap="flat" cmpd="sng" algn="ctr">
            <a:solidFill>
              <a:srgbClr val="8C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g1_bar">
            <a:extLst>
              <a:ext uri="{FF2B5EF4-FFF2-40B4-BE49-F238E27FC236}">
                <a16:creationId xmlns:a16="http://schemas.microsoft.com/office/drawing/2014/main" id="{B01E5527-056C-F03F-04BA-C9DB4B693743}"/>
              </a:ext>
            </a:extLst>
          </p:cNvPr>
          <p:cNvSpPr/>
          <p:nvPr/>
        </p:nvSpPr>
        <p:spPr>
          <a:xfrm>
            <a:off x="3302000" y="1624693"/>
            <a:ext cx="177801" cy="11684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lblA">
            <a:extLst>
              <a:ext uri="{FF2B5EF4-FFF2-40B4-BE49-F238E27FC236}">
                <a16:creationId xmlns:a16="http://schemas.microsoft.com/office/drawing/2014/main" id="{0B5A79FB-645B-BC4B-B9DB-23F44FCC3706}"/>
              </a:ext>
            </a:extLst>
          </p:cNvPr>
          <p:cNvSpPr txBox="1"/>
          <p:nvPr/>
        </p:nvSpPr>
        <p:spPr>
          <a:xfrm>
            <a:off x="787400" y="508000"/>
            <a:ext cx="4318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111"/>
                </a:solidFill>
              </a:rPr>
              <a:t>(a)</a:t>
            </a:r>
          </a:p>
        </p:txBody>
      </p:sp>
      <p:sp>
        <p:nvSpPr>
          <p:cNvPr id="5" name="lblB">
            <a:extLst>
              <a:ext uri="{FF2B5EF4-FFF2-40B4-BE49-F238E27FC236}">
                <a16:creationId xmlns:a16="http://schemas.microsoft.com/office/drawing/2014/main" id="{0983C1B0-7618-9145-8F96-D18F8B56B4CA}"/>
              </a:ext>
            </a:extLst>
          </p:cNvPr>
          <p:cNvSpPr txBox="1"/>
          <p:nvPr/>
        </p:nvSpPr>
        <p:spPr>
          <a:xfrm>
            <a:off x="7264400" y="508000"/>
            <a:ext cx="4318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111"/>
                </a:solidFill>
              </a:rPr>
              <a:t>(b)</a:t>
            </a:r>
          </a:p>
        </p:txBody>
      </p:sp>
      <p:sp>
        <p:nvSpPr>
          <p:cNvPr id="6" name="cap1">
            <a:extLst>
              <a:ext uri="{FF2B5EF4-FFF2-40B4-BE49-F238E27FC236}">
                <a16:creationId xmlns:a16="http://schemas.microsoft.com/office/drawing/2014/main" id="{51A08D0E-343D-5140-89C8-525DEA2832BA}"/>
              </a:ext>
            </a:extLst>
          </p:cNvPr>
          <p:cNvSpPr txBox="1"/>
          <p:nvPr/>
        </p:nvSpPr>
        <p:spPr>
          <a:xfrm>
            <a:off x="838199" y="924653"/>
            <a:ext cx="1447799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11111"/>
                </a:solidFill>
              </a:rPr>
              <a:t>1. Assess source scenario emissions and define bounds</a:t>
            </a:r>
          </a:p>
        </p:txBody>
      </p:sp>
      <p:sp>
        <p:nvSpPr>
          <p:cNvPr id="7" name="cap2">
            <a:extLst>
              <a:ext uri="{FF2B5EF4-FFF2-40B4-BE49-F238E27FC236}">
                <a16:creationId xmlns:a16="http://schemas.microsoft.com/office/drawing/2014/main" id="{8D7C2B0B-F666-D647-9005-0BD31B4A87EC}"/>
              </a:ext>
            </a:extLst>
          </p:cNvPr>
          <p:cNvSpPr txBox="1"/>
          <p:nvPr/>
        </p:nvSpPr>
        <p:spPr>
          <a:xfrm>
            <a:off x="2280800" y="924653"/>
            <a:ext cx="1625599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11111"/>
                </a:solidFill>
              </a:rPr>
              <a:t>2. Allocate regional emissions constraints &amp; define carbon debt</a:t>
            </a:r>
          </a:p>
        </p:txBody>
      </p:sp>
      <p:sp>
        <p:nvSpPr>
          <p:cNvPr id="8" name="cap3">
            <a:extLst>
              <a:ext uri="{FF2B5EF4-FFF2-40B4-BE49-F238E27FC236}">
                <a16:creationId xmlns:a16="http://schemas.microsoft.com/office/drawing/2014/main" id="{3EC5B34E-434E-2146-9CE8-DA5D557E50FB}"/>
              </a:ext>
            </a:extLst>
          </p:cNvPr>
          <p:cNvSpPr txBox="1"/>
          <p:nvPr/>
        </p:nvSpPr>
        <p:spPr>
          <a:xfrm>
            <a:off x="3901201" y="924653"/>
            <a:ext cx="149225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11111"/>
                </a:solidFill>
              </a:rPr>
              <a:t>3. Set cooperation mechanisms and constraints</a:t>
            </a:r>
          </a:p>
        </p:txBody>
      </p:sp>
      <p:sp>
        <p:nvSpPr>
          <p:cNvPr id="9" name="cap4">
            <a:extLst>
              <a:ext uri="{FF2B5EF4-FFF2-40B4-BE49-F238E27FC236}">
                <a16:creationId xmlns:a16="http://schemas.microsoft.com/office/drawing/2014/main" id="{E5C83427-1B1E-6D4A-BDE4-51C4F55F0852}"/>
              </a:ext>
            </a:extLst>
          </p:cNvPr>
          <p:cNvSpPr txBox="1"/>
          <p:nvPr/>
        </p:nvSpPr>
        <p:spPr>
          <a:xfrm>
            <a:off x="5388254" y="914269"/>
            <a:ext cx="13716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11111"/>
                </a:solidFill>
              </a:rPr>
              <a:t>4. Solve fair-share variant to address carbon debt</a:t>
            </a:r>
          </a:p>
        </p:txBody>
      </p:sp>
      <p:sp>
        <p:nvSpPr>
          <p:cNvPr id="10" name="cap5">
            <a:extLst>
              <a:ext uri="{FF2B5EF4-FFF2-40B4-BE49-F238E27FC236}">
                <a16:creationId xmlns:a16="http://schemas.microsoft.com/office/drawing/2014/main" id="{D585E67D-4146-1B41-A3CD-3238F81B1A32}"/>
              </a:ext>
            </a:extLst>
          </p:cNvPr>
          <p:cNvSpPr txBox="1"/>
          <p:nvPr/>
        </p:nvSpPr>
        <p:spPr>
          <a:xfrm>
            <a:off x="7518400" y="533400"/>
            <a:ext cx="3987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50" b="1" dirty="0">
                <a:solidFill>
                  <a:srgbClr val="111111"/>
                </a:solidFill>
              </a:rPr>
              <a:t>Generate two solutions to bound the solution space</a:t>
            </a:r>
          </a:p>
        </p:txBody>
      </p:sp>
      <p:sp>
        <p:nvSpPr>
          <p:cNvPr id="11" name="g1_txt">
            <a:extLst>
              <a:ext uri="{FF2B5EF4-FFF2-40B4-BE49-F238E27FC236}">
                <a16:creationId xmlns:a16="http://schemas.microsoft.com/office/drawing/2014/main" id="{1FFD0C41-570E-1944-B854-7A7DE5DF61B7}"/>
              </a:ext>
            </a:extLst>
          </p:cNvPr>
          <p:cNvSpPr txBox="1"/>
          <p:nvPr/>
        </p:nvSpPr>
        <p:spPr>
          <a:xfrm>
            <a:off x="846365" y="2273300"/>
            <a:ext cx="8382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en-US" sz="1100" dirty="0">
                <a:solidFill>
                  <a:srgbClr val="111111"/>
                </a:solidFill>
              </a:rPr>
              <a:t>Region y covered emissions</a:t>
            </a:r>
          </a:p>
        </p:txBody>
      </p:sp>
      <p:sp>
        <p:nvSpPr>
          <p:cNvPr id="12" name="g1_bar">
            <a:extLst>
              <a:ext uri="{FF2B5EF4-FFF2-40B4-BE49-F238E27FC236}">
                <a16:creationId xmlns:a16="http://schemas.microsoft.com/office/drawing/2014/main" id="{EB322F3B-4429-CC40-B0B0-27DB88F60B65}"/>
              </a:ext>
            </a:extLst>
          </p:cNvPr>
          <p:cNvSpPr/>
          <p:nvPr/>
        </p:nvSpPr>
        <p:spPr>
          <a:xfrm>
            <a:off x="1727199" y="1631043"/>
            <a:ext cx="177801" cy="11684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g2_txt">
            <a:extLst>
              <a:ext uri="{FF2B5EF4-FFF2-40B4-BE49-F238E27FC236}">
                <a16:creationId xmlns:a16="http://schemas.microsoft.com/office/drawing/2014/main" id="{5C606417-A1C7-2443-8C67-F280F7754A9D}"/>
              </a:ext>
            </a:extLst>
          </p:cNvPr>
          <p:cNvSpPr txBox="1"/>
          <p:nvPr/>
        </p:nvSpPr>
        <p:spPr>
          <a:xfrm>
            <a:off x="2428110" y="2272393"/>
            <a:ext cx="812800" cy="520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en-US" sz="1100" dirty="0">
                <a:solidFill>
                  <a:srgbClr val="111111"/>
                </a:solidFill>
              </a:rPr>
              <a:t>Region y emissions allocation</a:t>
            </a:r>
          </a:p>
        </p:txBody>
      </p:sp>
      <p:sp>
        <p:nvSpPr>
          <p:cNvPr id="14" name="g2_purple">
            <a:extLst>
              <a:ext uri="{FF2B5EF4-FFF2-40B4-BE49-F238E27FC236}">
                <a16:creationId xmlns:a16="http://schemas.microsoft.com/office/drawing/2014/main" id="{86ED8C72-B3B4-4A49-B717-06ACF4657F0D}"/>
              </a:ext>
            </a:extLst>
          </p:cNvPr>
          <p:cNvSpPr/>
          <p:nvPr/>
        </p:nvSpPr>
        <p:spPr>
          <a:xfrm>
            <a:off x="3302000" y="1627485"/>
            <a:ext cx="177800" cy="609600"/>
          </a:xfrm>
          <a:prstGeom prst="rect">
            <a:avLst/>
          </a:prstGeom>
          <a:solidFill>
            <a:srgbClr val="A427A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g2_debt">
            <a:extLst>
              <a:ext uri="{FF2B5EF4-FFF2-40B4-BE49-F238E27FC236}">
                <a16:creationId xmlns:a16="http://schemas.microsoft.com/office/drawing/2014/main" id="{A0BA6D5C-7D69-4B43-B084-AA46503406BF}"/>
              </a:ext>
            </a:extLst>
          </p:cNvPr>
          <p:cNvSpPr txBox="1"/>
          <p:nvPr/>
        </p:nvSpPr>
        <p:spPr>
          <a:xfrm>
            <a:off x="2252288" y="1748572"/>
            <a:ext cx="1011237" cy="375949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en-US" sz="1050" dirty="0">
                <a:solidFill>
                  <a:srgbClr val="A427AE"/>
                </a:solidFill>
              </a:rPr>
              <a:t>Region y carbon debt</a:t>
            </a:r>
          </a:p>
        </p:txBody>
      </p:sp>
      <p:sp>
        <p:nvSpPr>
          <p:cNvPr id="17" name="g3_coop">
            <a:extLst>
              <a:ext uri="{FF2B5EF4-FFF2-40B4-BE49-F238E27FC236}">
                <a16:creationId xmlns:a16="http://schemas.microsoft.com/office/drawing/2014/main" id="{710F574E-85E0-8240-AD39-FBCCD849F95E}"/>
              </a:ext>
            </a:extLst>
          </p:cNvPr>
          <p:cNvSpPr txBox="1"/>
          <p:nvPr/>
        </p:nvSpPr>
        <p:spPr>
          <a:xfrm>
            <a:off x="3986363" y="1504064"/>
            <a:ext cx="13970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0CAE94"/>
                </a:solidFill>
              </a:rPr>
              <a:t>Interregional</a:t>
            </a:r>
          </a:p>
          <a:p>
            <a:pPr algn="l"/>
            <a:r>
              <a:rPr lang="en-US" sz="1100" dirty="0">
                <a:solidFill>
                  <a:srgbClr val="0CAE94"/>
                </a:solidFill>
              </a:rPr>
              <a:t>transfers</a:t>
            </a:r>
          </a:p>
        </p:txBody>
      </p:sp>
      <p:sp>
        <p:nvSpPr>
          <p:cNvPr id="19" name="g3_teal">
            <a:extLst>
              <a:ext uri="{FF2B5EF4-FFF2-40B4-BE49-F238E27FC236}">
                <a16:creationId xmlns:a16="http://schemas.microsoft.com/office/drawing/2014/main" id="{5518C353-279E-FE4C-9ADB-3D53EC1EA6CC}"/>
              </a:ext>
            </a:extLst>
          </p:cNvPr>
          <p:cNvSpPr/>
          <p:nvPr/>
        </p:nvSpPr>
        <p:spPr>
          <a:xfrm>
            <a:off x="4337050" y="1900233"/>
            <a:ext cx="177800" cy="228600"/>
          </a:xfrm>
          <a:prstGeom prst="rect">
            <a:avLst/>
          </a:prstGeom>
          <a:solidFill>
            <a:srgbClr val="0CAE9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g3_sage">
            <a:extLst>
              <a:ext uri="{FF2B5EF4-FFF2-40B4-BE49-F238E27FC236}">
                <a16:creationId xmlns:a16="http://schemas.microsoft.com/office/drawing/2014/main" id="{2ACA3DC1-89A1-6B4F-A92D-11868D7A1B76}"/>
              </a:ext>
            </a:extLst>
          </p:cNvPr>
          <p:cNvSpPr/>
          <p:nvPr/>
        </p:nvSpPr>
        <p:spPr>
          <a:xfrm>
            <a:off x="4337050" y="2128833"/>
            <a:ext cx="177800" cy="375950"/>
          </a:xfrm>
          <a:prstGeom prst="rect">
            <a:avLst/>
          </a:prstGeom>
          <a:solidFill>
            <a:srgbClr val="6E8B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g3_effort">
            <a:extLst>
              <a:ext uri="{FF2B5EF4-FFF2-40B4-BE49-F238E27FC236}">
                <a16:creationId xmlns:a16="http://schemas.microsoft.com/office/drawing/2014/main" id="{D54872FC-15B5-444B-AB7A-3FA7BC3ABED9}"/>
              </a:ext>
            </a:extLst>
          </p:cNvPr>
          <p:cNvSpPr txBox="1"/>
          <p:nvPr/>
        </p:nvSpPr>
        <p:spPr>
          <a:xfrm>
            <a:off x="3949700" y="2489784"/>
            <a:ext cx="1270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6E8B7B"/>
                </a:solidFill>
              </a:rPr>
              <a:t>Additional domestic effort</a:t>
            </a:r>
          </a:p>
        </p:txBody>
      </p:sp>
      <p:sp>
        <p:nvSpPr>
          <p:cNvPr id="22" name="g4_dom">
            <a:extLst>
              <a:ext uri="{FF2B5EF4-FFF2-40B4-BE49-F238E27FC236}">
                <a16:creationId xmlns:a16="http://schemas.microsoft.com/office/drawing/2014/main" id="{93949CAF-7E86-E241-BC6A-7CAC6DA52A74}"/>
              </a:ext>
            </a:extLst>
          </p:cNvPr>
          <p:cNvSpPr txBox="1"/>
          <p:nvPr/>
        </p:nvSpPr>
        <p:spPr>
          <a:xfrm>
            <a:off x="5410200" y="1428750"/>
            <a:ext cx="762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111111"/>
                </a:solidFill>
              </a:rPr>
              <a:t>Domestic</a:t>
            </a:r>
          </a:p>
        </p:txBody>
      </p:sp>
      <p:sp>
        <p:nvSpPr>
          <p:cNvPr id="23" name="g4_int">
            <a:extLst>
              <a:ext uri="{FF2B5EF4-FFF2-40B4-BE49-F238E27FC236}">
                <a16:creationId xmlns:a16="http://schemas.microsoft.com/office/drawing/2014/main" id="{1B761FBA-0105-2A4D-8F0D-3414373931E6}"/>
              </a:ext>
            </a:extLst>
          </p:cNvPr>
          <p:cNvSpPr txBox="1"/>
          <p:nvPr/>
        </p:nvSpPr>
        <p:spPr>
          <a:xfrm>
            <a:off x="6134100" y="1428750"/>
            <a:ext cx="762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dirty="0">
                <a:solidFill>
                  <a:srgbClr val="111111"/>
                </a:solidFill>
              </a:rPr>
              <a:t>Interregional</a:t>
            </a:r>
          </a:p>
        </p:txBody>
      </p:sp>
      <p:sp>
        <p:nvSpPr>
          <p:cNvPr id="24" name="g4_quad">
            <a:extLst>
              <a:ext uri="{FF2B5EF4-FFF2-40B4-BE49-F238E27FC236}">
                <a16:creationId xmlns:a16="http://schemas.microsoft.com/office/drawing/2014/main" id="{BC4FBD60-EE14-4846-BA66-15EB803F78BF}"/>
              </a:ext>
            </a:extLst>
          </p:cNvPr>
          <p:cNvSpPr/>
          <p:nvPr/>
        </p:nvSpPr>
        <p:spPr>
          <a:xfrm>
            <a:off x="5410200" y="1606550"/>
            <a:ext cx="1524000" cy="1270000"/>
          </a:xfrm>
          <a:prstGeom prst="rect">
            <a:avLst/>
          </a:prstGeom>
          <a:noFill/>
          <a:ln w="15875" cap="flat" cmpd="sng" algn="ctr">
            <a:solidFill>
              <a:srgbClr val="26262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g4_sage">
            <a:extLst>
              <a:ext uri="{FF2B5EF4-FFF2-40B4-BE49-F238E27FC236}">
                <a16:creationId xmlns:a16="http://schemas.microsoft.com/office/drawing/2014/main" id="{A0980B74-DE39-1C45-8F82-CD1C02094B2D}"/>
              </a:ext>
            </a:extLst>
          </p:cNvPr>
          <p:cNvSpPr/>
          <p:nvPr/>
        </p:nvSpPr>
        <p:spPr>
          <a:xfrm>
            <a:off x="5865963" y="1659746"/>
            <a:ext cx="304800" cy="914400"/>
          </a:xfrm>
          <a:prstGeom prst="rect">
            <a:avLst/>
          </a:prstGeom>
          <a:solidFill>
            <a:srgbClr val="6E8B7B">
              <a:alpha val="75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g4_teal">
            <a:extLst>
              <a:ext uri="{FF2B5EF4-FFF2-40B4-BE49-F238E27FC236}">
                <a16:creationId xmlns:a16="http://schemas.microsoft.com/office/drawing/2014/main" id="{19A71293-E2C3-7643-B786-8F33D65FAC5F}"/>
              </a:ext>
            </a:extLst>
          </p:cNvPr>
          <p:cNvSpPr/>
          <p:nvPr/>
        </p:nvSpPr>
        <p:spPr>
          <a:xfrm>
            <a:off x="6170763" y="1659746"/>
            <a:ext cx="63500" cy="914400"/>
          </a:xfrm>
          <a:prstGeom prst="rect">
            <a:avLst/>
          </a:prstGeom>
          <a:solidFill>
            <a:srgbClr val="0CAE9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keyP">
            <a:extLst>
              <a:ext uri="{FF2B5EF4-FFF2-40B4-BE49-F238E27FC236}">
                <a16:creationId xmlns:a16="http://schemas.microsoft.com/office/drawing/2014/main" id="{99CDAD12-1830-F548-938B-56CBF5FA06EB}"/>
              </a:ext>
            </a:extLst>
          </p:cNvPr>
          <p:cNvSpPr/>
          <p:nvPr/>
        </p:nvSpPr>
        <p:spPr>
          <a:xfrm>
            <a:off x="889000" y="5956808"/>
            <a:ext cx="127000" cy="127000"/>
          </a:xfrm>
          <a:prstGeom prst="rect">
            <a:avLst/>
          </a:prstGeom>
          <a:solidFill>
            <a:srgbClr val="A427A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keyPt">
            <a:extLst>
              <a:ext uri="{FF2B5EF4-FFF2-40B4-BE49-F238E27FC236}">
                <a16:creationId xmlns:a16="http://schemas.microsoft.com/office/drawing/2014/main" id="{6180926B-B1D3-3842-9653-449B530CEAE2}"/>
              </a:ext>
            </a:extLst>
          </p:cNvPr>
          <p:cNvSpPr txBox="1"/>
          <p:nvPr/>
        </p:nvSpPr>
        <p:spPr>
          <a:xfrm>
            <a:off x="1015188" y="5899253"/>
            <a:ext cx="101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111111"/>
                </a:solidFill>
              </a:rPr>
              <a:t>Carbon debt</a:t>
            </a:r>
          </a:p>
        </p:txBody>
      </p:sp>
      <p:sp>
        <p:nvSpPr>
          <p:cNvPr id="29" name="keyT">
            <a:extLst>
              <a:ext uri="{FF2B5EF4-FFF2-40B4-BE49-F238E27FC236}">
                <a16:creationId xmlns:a16="http://schemas.microsoft.com/office/drawing/2014/main" id="{B919968B-B09A-E545-AE77-9AC8F74FD823}"/>
              </a:ext>
            </a:extLst>
          </p:cNvPr>
          <p:cNvSpPr/>
          <p:nvPr/>
        </p:nvSpPr>
        <p:spPr>
          <a:xfrm>
            <a:off x="2184400" y="5956808"/>
            <a:ext cx="127000" cy="127000"/>
          </a:xfrm>
          <a:prstGeom prst="rect">
            <a:avLst/>
          </a:prstGeom>
          <a:solidFill>
            <a:srgbClr val="0CAE9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keyTt">
            <a:extLst>
              <a:ext uri="{FF2B5EF4-FFF2-40B4-BE49-F238E27FC236}">
                <a16:creationId xmlns:a16="http://schemas.microsoft.com/office/drawing/2014/main" id="{B046A570-06A7-F24A-8225-CB967C86CD5C}"/>
              </a:ext>
            </a:extLst>
          </p:cNvPr>
          <p:cNvSpPr txBox="1"/>
          <p:nvPr/>
        </p:nvSpPr>
        <p:spPr>
          <a:xfrm>
            <a:off x="2317885" y="5899253"/>
            <a:ext cx="155859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111111"/>
                </a:solidFill>
              </a:rPr>
              <a:t>Interregional transfers</a:t>
            </a:r>
          </a:p>
        </p:txBody>
      </p:sp>
      <p:sp>
        <p:nvSpPr>
          <p:cNvPr id="31" name="keyS">
            <a:extLst>
              <a:ext uri="{FF2B5EF4-FFF2-40B4-BE49-F238E27FC236}">
                <a16:creationId xmlns:a16="http://schemas.microsoft.com/office/drawing/2014/main" id="{4E4E4A11-6FC2-AE4C-9417-3D2C21DC9154}"/>
              </a:ext>
            </a:extLst>
          </p:cNvPr>
          <p:cNvSpPr/>
          <p:nvPr/>
        </p:nvSpPr>
        <p:spPr>
          <a:xfrm>
            <a:off x="4017736" y="5956808"/>
            <a:ext cx="127000" cy="127000"/>
          </a:xfrm>
          <a:prstGeom prst="rect">
            <a:avLst/>
          </a:prstGeom>
          <a:solidFill>
            <a:srgbClr val="6E8B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keySt">
            <a:extLst>
              <a:ext uri="{FF2B5EF4-FFF2-40B4-BE49-F238E27FC236}">
                <a16:creationId xmlns:a16="http://schemas.microsoft.com/office/drawing/2014/main" id="{15706FA8-9BAB-904C-A1BE-4A2794C386CD}"/>
              </a:ext>
            </a:extLst>
          </p:cNvPr>
          <p:cNvSpPr txBox="1"/>
          <p:nvPr/>
        </p:nvSpPr>
        <p:spPr>
          <a:xfrm>
            <a:off x="4143655" y="5899253"/>
            <a:ext cx="1854199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111111"/>
                </a:solidFill>
              </a:rPr>
              <a:t>Additional domestic effort</a:t>
            </a:r>
          </a:p>
        </p:txBody>
      </p:sp>
      <p:sp>
        <p:nvSpPr>
          <p:cNvPr id="33" name="f1">
            <a:extLst>
              <a:ext uri="{FF2B5EF4-FFF2-40B4-BE49-F238E27FC236}">
                <a16:creationId xmlns:a16="http://schemas.microsoft.com/office/drawing/2014/main" id="{3E53B84B-0D18-5945-9253-34393AF20CD6}"/>
              </a:ext>
            </a:extLst>
          </p:cNvPr>
          <p:cNvSpPr/>
          <p:nvPr/>
        </p:nvSpPr>
        <p:spPr>
          <a:xfrm>
            <a:off x="838200" y="3403600"/>
            <a:ext cx="1270000" cy="1168400"/>
          </a:xfrm>
          <a:prstGeom prst="rect">
            <a:avLst/>
          </a:prstGeom>
          <a:solidFill>
            <a:srgbClr val="4A46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Covered emissions pathways</a:t>
            </a:r>
          </a:p>
        </p:txBody>
      </p:sp>
      <p:sp>
        <p:nvSpPr>
          <p:cNvPr id="34" name="f2">
            <a:extLst>
              <a:ext uri="{FF2B5EF4-FFF2-40B4-BE49-F238E27FC236}">
                <a16:creationId xmlns:a16="http://schemas.microsoft.com/office/drawing/2014/main" id="{E4F1E729-31A1-0145-A768-73E92B28F39D}"/>
              </a:ext>
            </a:extLst>
          </p:cNvPr>
          <p:cNvSpPr/>
          <p:nvPr/>
        </p:nvSpPr>
        <p:spPr>
          <a:xfrm>
            <a:off x="2413000" y="3403600"/>
            <a:ext cx="1270000" cy="1168400"/>
          </a:xfrm>
          <a:prstGeom prst="rect">
            <a:avLst/>
          </a:prstGeom>
          <a:solidFill>
            <a:srgbClr val="4A46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Regional emissions allocations</a:t>
            </a:r>
          </a:p>
        </p:txBody>
      </p:sp>
      <p:sp>
        <p:nvSpPr>
          <p:cNvPr id="35" name="f3">
            <a:extLst>
              <a:ext uri="{FF2B5EF4-FFF2-40B4-BE49-F238E27FC236}">
                <a16:creationId xmlns:a16="http://schemas.microsoft.com/office/drawing/2014/main" id="{61EE770B-83E8-B241-BD92-DF666E9C951F}"/>
              </a:ext>
            </a:extLst>
          </p:cNvPr>
          <p:cNvSpPr/>
          <p:nvPr/>
        </p:nvSpPr>
        <p:spPr>
          <a:xfrm>
            <a:off x="3987800" y="3403600"/>
            <a:ext cx="1270000" cy="1168400"/>
          </a:xfrm>
          <a:prstGeom prst="rect">
            <a:avLst/>
          </a:prstGeom>
          <a:solidFill>
            <a:srgbClr val="4A46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Un/Limited Cooperation Mechanism</a:t>
            </a:r>
          </a:p>
        </p:txBody>
      </p:sp>
      <p:sp>
        <p:nvSpPr>
          <p:cNvPr id="36" name="f4">
            <a:extLst>
              <a:ext uri="{FF2B5EF4-FFF2-40B4-BE49-F238E27FC236}">
                <a16:creationId xmlns:a16="http://schemas.microsoft.com/office/drawing/2014/main" id="{2889D663-EDD2-4F4F-A6CB-A72A6BB6F458}"/>
              </a:ext>
            </a:extLst>
          </p:cNvPr>
          <p:cNvSpPr/>
          <p:nvPr/>
        </p:nvSpPr>
        <p:spPr>
          <a:xfrm>
            <a:off x="5562600" y="3403600"/>
            <a:ext cx="1270000" cy="1168400"/>
          </a:xfrm>
          <a:prstGeom prst="rect">
            <a:avLst/>
          </a:prstGeom>
          <a:solidFill>
            <a:srgbClr val="4A46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New allocation &amp; cooperation responsive pathways</a:t>
            </a:r>
          </a:p>
        </p:txBody>
      </p:sp>
      <p:sp>
        <p:nvSpPr>
          <p:cNvPr id="37" name="fa1">
            <a:extLst>
              <a:ext uri="{FF2B5EF4-FFF2-40B4-BE49-F238E27FC236}">
                <a16:creationId xmlns:a16="http://schemas.microsoft.com/office/drawing/2014/main" id="{2B217D03-B287-5540-95AE-EB5D02FB576F}"/>
              </a:ext>
            </a:extLst>
          </p:cNvPr>
          <p:cNvSpPr/>
          <p:nvPr/>
        </p:nvSpPr>
        <p:spPr>
          <a:xfrm>
            <a:off x="2120900" y="3898900"/>
            <a:ext cx="279400" cy="177800"/>
          </a:xfrm>
          <a:prstGeom prst="rightArrow">
            <a:avLst/>
          </a:prstGeom>
          <a:solidFill>
            <a:srgbClr val="6E6E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fa2">
            <a:extLst>
              <a:ext uri="{FF2B5EF4-FFF2-40B4-BE49-F238E27FC236}">
                <a16:creationId xmlns:a16="http://schemas.microsoft.com/office/drawing/2014/main" id="{85F2D1CB-56B4-7349-924E-BDFDA778A15E}"/>
              </a:ext>
            </a:extLst>
          </p:cNvPr>
          <p:cNvSpPr/>
          <p:nvPr/>
        </p:nvSpPr>
        <p:spPr>
          <a:xfrm>
            <a:off x="3695700" y="3898900"/>
            <a:ext cx="279400" cy="177800"/>
          </a:xfrm>
          <a:prstGeom prst="rightArrow">
            <a:avLst/>
          </a:prstGeom>
          <a:solidFill>
            <a:srgbClr val="6E6E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a3">
            <a:extLst>
              <a:ext uri="{FF2B5EF4-FFF2-40B4-BE49-F238E27FC236}">
                <a16:creationId xmlns:a16="http://schemas.microsoft.com/office/drawing/2014/main" id="{243EF86F-A5BF-7048-ADA7-28167B824C8D}"/>
              </a:ext>
            </a:extLst>
          </p:cNvPr>
          <p:cNvSpPr/>
          <p:nvPr/>
        </p:nvSpPr>
        <p:spPr>
          <a:xfrm>
            <a:off x="5270500" y="3898900"/>
            <a:ext cx="279400" cy="177800"/>
          </a:xfrm>
          <a:prstGeom prst="rightArrow">
            <a:avLst/>
          </a:prstGeom>
          <a:solidFill>
            <a:srgbClr val="6E6E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s1">
            <a:extLst>
              <a:ext uri="{FF2B5EF4-FFF2-40B4-BE49-F238E27FC236}">
                <a16:creationId xmlns:a16="http://schemas.microsoft.com/office/drawing/2014/main" id="{6A9F9D48-5AE8-3A4E-86E6-8DC90C6CE4F8}"/>
              </a:ext>
            </a:extLst>
          </p:cNvPr>
          <p:cNvSpPr/>
          <p:nvPr/>
        </p:nvSpPr>
        <p:spPr>
          <a:xfrm>
            <a:off x="838200" y="4826000"/>
            <a:ext cx="1270000" cy="762000"/>
          </a:xfrm>
          <a:prstGeom prst="rect">
            <a:avLst/>
          </a:prstGeom>
          <a:solidFill>
            <a:srgbClr val="1784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Excluded emissions pathways</a:t>
            </a:r>
          </a:p>
        </p:txBody>
      </p:sp>
      <p:sp>
        <p:nvSpPr>
          <p:cNvPr id="41" name="s2">
            <a:extLst>
              <a:ext uri="{FF2B5EF4-FFF2-40B4-BE49-F238E27FC236}">
                <a16:creationId xmlns:a16="http://schemas.microsoft.com/office/drawing/2014/main" id="{317184D1-2645-704C-B1C5-C18C2B10A94E}"/>
              </a:ext>
            </a:extLst>
          </p:cNvPr>
          <p:cNvSpPr/>
          <p:nvPr/>
        </p:nvSpPr>
        <p:spPr>
          <a:xfrm>
            <a:off x="2413000" y="4826000"/>
            <a:ext cx="1270000" cy="762000"/>
          </a:xfrm>
          <a:prstGeom prst="rect">
            <a:avLst/>
          </a:prstGeom>
          <a:solidFill>
            <a:srgbClr val="1784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Source carbon price trajectory</a:t>
            </a:r>
          </a:p>
        </p:txBody>
      </p:sp>
      <p:sp>
        <p:nvSpPr>
          <p:cNvPr id="42" name="s4">
            <a:extLst>
              <a:ext uri="{FF2B5EF4-FFF2-40B4-BE49-F238E27FC236}">
                <a16:creationId xmlns:a16="http://schemas.microsoft.com/office/drawing/2014/main" id="{4DEF7F58-5CE0-C14D-8787-7C36EBA23C96}"/>
              </a:ext>
            </a:extLst>
          </p:cNvPr>
          <p:cNvSpPr/>
          <p:nvPr/>
        </p:nvSpPr>
        <p:spPr>
          <a:xfrm>
            <a:off x="5562600" y="4826000"/>
            <a:ext cx="1270000" cy="762000"/>
          </a:xfrm>
          <a:prstGeom prst="rect">
            <a:avLst/>
          </a:prstGeom>
          <a:solidFill>
            <a:srgbClr val="1784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Source scenario pathways</a:t>
            </a:r>
          </a:p>
        </p:txBody>
      </p:sp>
      <p:sp>
        <p:nvSpPr>
          <p:cNvPr id="43" name="sa1">
            <a:extLst>
              <a:ext uri="{FF2B5EF4-FFF2-40B4-BE49-F238E27FC236}">
                <a16:creationId xmlns:a16="http://schemas.microsoft.com/office/drawing/2014/main" id="{4B6F66B9-DF29-344D-91B0-DCAE14067F76}"/>
              </a:ext>
            </a:extLst>
          </p:cNvPr>
          <p:cNvSpPr/>
          <p:nvPr/>
        </p:nvSpPr>
        <p:spPr>
          <a:xfrm>
            <a:off x="2120900" y="5118100"/>
            <a:ext cx="279400" cy="177800"/>
          </a:xfrm>
          <a:prstGeom prst="rightArrow">
            <a:avLst/>
          </a:prstGeom>
          <a:solidFill>
            <a:srgbClr val="1784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sa2">
            <a:extLst>
              <a:ext uri="{FF2B5EF4-FFF2-40B4-BE49-F238E27FC236}">
                <a16:creationId xmlns:a16="http://schemas.microsoft.com/office/drawing/2014/main" id="{0DE011C3-102C-5D43-9BD6-CA3E2F5DFE96}"/>
              </a:ext>
            </a:extLst>
          </p:cNvPr>
          <p:cNvSpPr/>
          <p:nvPr/>
        </p:nvSpPr>
        <p:spPr>
          <a:xfrm>
            <a:off x="3695700" y="5118100"/>
            <a:ext cx="1854200" cy="177800"/>
          </a:xfrm>
          <a:prstGeom prst="rightArrow">
            <a:avLst/>
          </a:prstGeom>
          <a:solidFill>
            <a:srgbClr val="1784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dotSrc">
            <a:extLst>
              <a:ext uri="{FF2B5EF4-FFF2-40B4-BE49-F238E27FC236}">
                <a16:creationId xmlns:a16="http://schemas.microsoft.com/office/drawing/2014/main" id="{214F64F7-BEDF-C241-81D3-F5F8F3E6CF50}"/>
              </a:ext>
            </a:extLst>
          </p:cNvPr>
          <p:cNvSpPr/>
          <p:nvPr/>
        </p:nvSpPr>
        <p:spPr>
          <a:xfrm>
            <a:off x="736600" y="3327400"/>
            <a:ext cx="1473200" cy="2311400"/>
          </a:xfrm>
          <a:prstGeom prst="rect">
            <a:avLst/>
          </a:prstGeom>
          <a:noFill/>
          <a:ln w="15875" cap="sq" cmpd="sng" algn="ctr">
            <a:solidFill>
              <a:srgbClr val="11111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dotVar">
            <a:extLst>
              <a:ext uri="{FF2B5EF4-FFF2-40B4-BE49-F238E27FC236}">
                <a16:creationId xmlns:a16="http://schemas.microsoft.com/office/drawing/2014/main" id="{4F6B6807-7821-4E48-94D1-2194D6451DE9}"/>
              </a:ext>
            </a:extLst>
          </p:cNvPr>
          <p:cNvSpPr/>
          <p:nvPr/>
        </p:nvSpPr>
        <p:spPr>
          <a:xfrm>
            <a:off x="5461000" y="3327400"/>
            <a:ext cx="1473200" cy="2311400"/>
          </a:xfrm>
          <a:prstGeom prst="rect">
            <a:avLst/>
          </a:prstGeom>
          <a:noFill/>
          <a:ln w="15875" cap="sq" cmpd="sng" algn="ctr">
            <a:solidFill>
              <a:srgbClr val="11111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dotSrcLbl">
            <a:extLst>
              <a:ext uri="{FF2B5EF4-FFF2-40B4-BE49-F238E27FC236}">
                <a16:creationId xmlns:a16="http://schemas.microsoft.com/office/drawing/2014/main" id="{5A0257AF-0A93-D44A-9768-3DD338B2AF24}"/>
              </a:ext>
            </a:extLst>
          </p:cNvPr>
          <p:cNvSpPr txBox="1"/>
          <p:nvPr/>
        </p:nvSpPr>
        <p:spPr>
          <a:xfrm>
            <a:off x="710224" y="3089032"/>
            <a:ext cx="14732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 dirty="0">
                <a:solidFill>
                  <a:srgbClr val="111111"/>
                </a:solidFill>
              </a:rPr>
              <a:t>Source scenario</a:t>
            </a:r>
          </a:p>
        </p:txBody>
      </p:sp>
      <p:sp>
        <p:nvSpPr>
          <p:cNvPr id="48" name="dotVarLbl">
            <a:extLst>
              <a:ext uri="{FF2B5EF4-FFF2-40B4-BE49-F238E27FC236}">
                <a16:creationId xmlns:a16="http://schemas.microsoft.com/office/drawing/2014/main" id="{E01822B2-2410-6947-916C-718DC4AA2E7E}"/>
              </a:ext>
            </a:extLst>
          </p:cNvPr>
          <p:cNvSpPr txBox="1"/>
          <p:nvPr/>
        </p:nvSpPr>
        <p:spPr>
          <a:xfrm>
            <a:off x="5434624" y="3089032"/>
            <a:ext cx="14732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 dirty="0">
                <a:solidFill>
                  <a:srgbClr val="111111"/>
                </a:solidFill>
              </a:rPr>
              <a:t>Fair-share variant</a:t>
            </a:r>
          </a:p>
        </p:txBody>
      </p:sp>
      <p:sp>
        <p:nvSpPr>
          <p:cNvPr id="49" name="b1_blueDot">
            <a:extLst>
              <a:ext uri="{FF2B5EF4-FFF2-40B4-BE49-F238E27FC236}">
                <a16:creationId xmlns:a16="http://schemas.microsoft.com/office/drawing/2014/main" id="{96A0AA5A-ACE4-2948-9395-CB595CC4EAB3}"/>
              </a:ext>
            </a:extLst>
          </p:cNvPr>
          <p:cNvSpPr/>
          <p:nvPr/>
        </p:nvSpPr>
        <p:spPr>
          <a:xfrm>
            <a:off x="7899400" y="1117598"/>
            <a:ext cx="165100" cy="165100"/>
          </a:xfrm>
          <a:prstGeom prst="ellipse">
            <a:avLst/>
          </a:prstGeom>
          <a:solidFill>
            <a:srgbClr val="2B6C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b1_redDot">
            <a:extLst>
              <a:ext uri="{FF2B5EF4-FFF2-40B4-BE49-F238E27FC236}">
                <a16:creationId xmlns:a16="http://schemas.microsoft.com/office/drawing/2014/main" id="{145F583A-88A2-E04E-B1A7-7716E399ADE7}"/>
              </a:ext>
            </a:extLst>
          </p:cNvPr>
          <p:cNvSpPr/>
          <p:nvPr/>
        </p:nvSpPr>
        <p:spPr>
          <a:xfrm>
            <a:off x="11061700" y="2743198"/>
            <a:ext cx="165100" cy="165100"/>
          </a:xfrm>
          <a:prstGeom prst="ellipse">
            <a:avLst/>
          </a:prstGeom>
          <a:solidFill>
            <a:srgbClr val="D926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b1_srcScen">
            <a:extLst>
              <a:ext uri="{FF2B5EF4-FFF2-40B4-BE49-F238E27FC236}">
                <a16:creationId xmlns:a16="http://schemas.microsoft.com/office/drawing/2014/main" id="{37090E3D-A595-E74C-A8D5-2D3D1AC30203}"/>
              </a:ext>
            </a:extLst>
          </p:cNvPr>
          <p:cNvSpPr txBox="1"/>
          <p:nvPr/>
        </p:nvSpPr>
        <p:spPr>
          <a:xfrm>
            <a:off x="9986735" y="2557366"/>
            <a:ext cx="13462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111111"/>
                </a:solidFill>
              </a:rPr>
              <a:t>Source scenario</a:t>
            </a:r>
          </a:p>
        </p:txBody>
      </p:sp>
      <p:sp>
        <p:nvSpPr>
          <p:cNvPr id="52" name="b1_leastCost">
            <a:extLst>
              <a:ext uri="{FF2B5EF4-FFF2-40B4-BE49-F238E27FC236}">
                <a16:creationId xmlns:a16="http://schemas.microsoft.com/office/drawing/2014/main" id="{4E0AEA2F-94AB-A64A-A1B8-7FE6C3B9B62B}"/>
              </a:ext>
            </a:extLst>
          </p:cNvPr>
          <p:cNvSpPr txBox="1"/>
          <p:nvPr/>
        </p:nvSpPr>
        <p:spPr>
          <a:xfrm>
            <a:off x="7835900" y="2412998"/>
            <a:ext cx="114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111111"/>
                </a:solidFill>
              </a:rPr>
              <a:t>Least-cost optimization</a:t>
            </a:r>
          </a:p>
        </p:txBody>
      </p:sp>
      <p:sp>
        <p:nvSpPr>
          <p:cNvPr id="53" name="b2_time">
            <a:extLst>
              <a:ext uri="{FF2B5EF4-FFF2-40B4-BE49-F238E27FC236}">
                <a16:creationId xmlns:a16="http://schemas.microsoft.com/office/drawing/2014/main" id="{5712ABB9-5B76-EA47-AA0D-274BB9CFF048}"/>
              </a:ext>
            </a:extLst>
          </p:cNvPr>
          <p:cNvSpPr txBox="1"/>
          <p:nvPr/>
        </p:nvSpPr>
        <p:spPr>
          <a:xfrm>
            <a:off x="7797800" y="5323113"/>
            <a:ext cx="3632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11111"/>
                </a:solidFill>
              </a:rPr>
              <a:t>Time</a:t>
            </a:r>
          </a:p>
        </p:txBody>
      </p:sp>
      <p:cxnSp>
        <p:nvCxnSpPr>
          <p:cNvPr id="300" name="g1_up"/>
          <p:cNvCxnSpPr>
            <a:cxnSpLocks/>
          </p:cNvCxnSpPr>
          <p:nvPr/>
        </p:nvCxnSpPr>
        <p:spPr>
          <a:xfrm>
            <a:off x="1676400" y="1631043"/>
            <a:ext cx="0" cy="1168400"/>
          </a:xfrm>
          <a:prstGeom prst="line">
            <a:avLst/>
          </a:prstGeom>
          <a:ln w="19050" cap="rnd">
            <a:solidFill>
              <a:srgbClr val="141414"/>
            </a:solidFill>
            <a:headEnd type="triangle" w="med" len="med"/>
            <a:tailEnd type="none"/>
          </a:ln>
        </p:spPr>
      </p:cxnSp>
      <p:cxnSp>
        <p:nvCxnSpPr>
          <p:cNvPr id="301" name="g2_up"/>
          <p:cNvCxnSpPr>
            <a:cxnSpLocks/>
          </p:cNvCxnSpPr>
          <p:nvPr/>
        </p:nvCxnSpPr>
        <p:spPr>
          <a:xfrm>
            <a:off x="3252483" y="2267857"/>
            <a:ext cx="0" cy="525236"/>
          </a:xfrm>
          <a:prstGeom prst="line">
            <a:avLst/>
          </a:prstGeom>
          <a:ln w="19050" cap="rnd">
            <a:solidFill>
              <a:srgbClr val="141414"/>
            </a:solidFill>
            <a:headEnd type="triangle" w="med" len="med"/>
            <a:tailEnd type="none"/>
          </a:ln>
        </p:spPr>
      </p:cxnSp>
      <p:cxnSp>
        <p:nvCxnSpPr>
          <p:cNvPr id="302" name="g3_arrShort"/>
          <p:cNvCxnSpPr>
            <a:cxnSpLocks/>
          </p:cNvCxnSpPr>
          <p:nvPr/>
        </p:nvCxnSpPr>
        <p:spPr>
          <a:xfrm>
            <a:off x="4597400" y="1924141"/>
            <a:ext cx="0" cy="203200"/>
          </a:xfrm>
          <a:prstGeom prst="line">
            <a:avLst/>
          </a:prstGeom>
          <a:ln w="19050" cap="rnd">
            <a:solidFill>
              <a:srgbClr val="0CAE94"/>
            </a:solidFill>
            <a:headEnd type="none"/>
            <a:tailEnd type="triangle" w="med" len="med"/>
          </a:ln>
        </p:spPr>
      </p:cxnSp>
      <p:cxnSp>
        <p:nvCxnSpPr>
          <p:cNvPr id="303" name="g3_arrLong"/>
          <p:cNvCxnSpPr>
            <a:cxnSpLocks/>
          </p:cNvCxnSpPr>
          <p:nvPr/>
        </p:nvCxnSpPr>
        <p:spPr>
          <a:xfrm>
            <a:off x="4597400" y="2153648"/>
            <a:ext cx="0" cy="351135"/>
          </a:xfrm>
          <a:prstGeom prst="line">
            <a:avLst/>
          </a:prstGeom>
          <a:ln w="19050" cap="rnd">
            <a:solidFill>
              <a:srgbClr val="91A79B"/>
            </a:solidFill>
            <a:headEnd type="none"/>
            <a:tailEnd type="triangle" w="med" len="med"/>
          </a:ln>
        </p:spPr>
      </p:cxnSp>
      <p:cxnSp>
        <p:nvCxnSpPr>
          <p:cNvPr id="304" name="g4_v"/>
          <p:cNvCxnSpPr/>
          <p:nvPr/>
        </p:nvCxnSpPr>
        <p:spPr>
          <a:xfrm>
            <a:off x="6172200" y="1606550"/>
            <a:ext cx="0" cy="1270000"/>
          </a:xfrm>
          <a:prstGeom prst="line">
            <a:avLst/>
          </a:prstGeom>
          <a:ln w="15875" cap="rnd">
            <a:solidFill>
              <a:srgbClr val="262626"/>
            </a:solidFill>
            <a:headEnd type="none"/>
            <a:tailEnd type="none"/>
          </a:ln>
        </p:spPr>
      </p:cxnSp>
      <p:cxnSp>
        <p:nvCxnSpPr>
          <p:cNvPr id="305" name="g4_h"/>
          <p:cNvCxnSpPr/>
          <p:nvPr/>
        </p:nvCxnSpPr>
        <p:spPr>
          <a:xfrm>
            <a:off x="5410200" y="2241550"/>
            <a:ext cx="1524000" cy="0"/>
          </a:xfrm>
          <a:prstGeom prst="line">
            <a:avLst/>
          </a:prstGeom>
          <a:ln w="15875" cap="rnd">
            <a:solidFill>
              <a:srgbClr val="262626"/>
            </a:solidFill>
            <a:headEnd type="none"/>
            <a:tailEnd type="none"/>
          </a:ln>
        </p:spPr>
      </p:cxnSp>
      <p:sp>
        <p:nvSpPr>
          <p:cNvPr id="306" name="g4_mit"/>
          <p:cNvSpPr txBox="1"/>
          <p:nvPr/>
        </p:nvSpPr>
        <p:spPr>
          <a:xfrm rot="16200000">
            <a:off x="4876800" y="183515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6350" tIns="3175" rIns="6350" bIns="3175" anchor="ctr">
            <a:noAutofit/>
          </a:bodyPr>
          <a:lstStyle/>
          <a:p>
            <a:pPr algn="ctr"/>
            <a:r>
              <a:rPr lang="en-US" sz="1000" dirty="0">
                <a:solidFill>
                  <a:srgbClr val="111111"/>
                </a:solidFill>
              </a:rPr>
              <a:t>Mitigation</a:t>
            </a:r>
          </a:p>
        </p:txBody>
      </p:sp>
      <p:sp>
        <p:nvSpPr>
          <p:cNvPr id="307" name="g4_cdr"/>
          <p:cNvSpPr txBox="1"/>
          <p:nvPr/>
        </p:nvSpPr>
        <p:spPr>
          <a:xfrm rot="16200000">
            <a:off x="5022851" y="2471056"/>
            <a:ext cx="584199" cy="177801"/>
          </a:xfrm>
          <a:prstGeom prst="rect">
            <a:avLst/>
          </a:prstGeom>
          <a:noFill/>
          <a:ln>
            <a:noFill/>
          </a:ln>
        </p:spPr>
        <p:txBody>
          <a:bodyPr wrap="square" lIns="6350" tIns="3175" rIns="6350" bIns="3175" anchor="ctr">
            <a:noAutofit/>
          </a:bodyPr>
          <a:lstStyle/>
          <a:p>
            <a:pPr algn="ctr"/>
            <a:r>
              <a:rPr lang="en-US" sz="1000" dirty="0">
                <a:solidFill>
                  <a:srgbClr val="111111"/>
                </a:solidFill>
              </a:rPr>
              <a:t>CDR</a:t>
            </a:r>
          </a:p>
        </p:txBody>
      </p:sp>
      <p:cxnSp>
        <p:nvCxnSpPr>
          <p:cNvPr id="310" name="b1_yAx"/>
          <p:cNvCxnSpPr/>
          <p:nvPr/>
        </p:nvCxnSpPr>
        <p:spPr>
          <a:xfrm>
            <a:off x="7797800" y="1041398"/>
            <a:ext cx="0" cy="1905000"/>
          </a:xfrm>
          <a:prstGeom prst="line">
            <a:avLst/>
          </a:prstGeom>
          <a:ln w="15875" cap="rnd">
            <a:solidFill>
              <a:srgbClr val="141414"/>
            </a:solidFill>
            <a:headEnd type="triangle" w="med" len="med"/>
            <a:tailEnd type="none"/>
          </a:ln>
        </p:spPr>
      </p:cxnSp>
      <p:cxnSp>
        <p:nvCxnSpPr>
          <p:cNvPr id="311" name="b1_xAx"/>
          <p:cNvCxnSpPr/>
          <p:nvPr/>
        </p:nvCxnSpPr>
        <p:spPr>
          <a:xfrm>
            <a:off x="7797800" y="2946398"/>
            <a:ext cx="3632200" cy="0"/>
          </a:xfrm>
          <a:prstGeom prst="line">
            <a:avLst/>
          </a:prstGeom>
          <a:ln w="15875" cap="rnd">
            <a:solidFill>
              <a:srgbClr val="141414"/>
            </a:solidFill>
            <a:headEnd type="none"/>
            <a:tailEnd type="triangle" w="med" len="med"/>
          </a:ln>
        </p:spPr>
      </p:cxnSp>
      <p:sp>
        <p:nvSpPr>
          <p:cNvPr id="313" name="b1_yLbl"/>
          <p:cNvSpPr txBox="1"/>
          <p:nvPr/>
        </p:nvSpPr>
        <p:spPr>
          <a:xfrm rot="16200000">
            <a:off x="6731000" y="1904998"/>
            <a:ext cx="1778000" cy="190500"/>
          </a:xfrm>
          <a:prstGeom prst="rect">
            <a:avLst/>
          </a:prstGeom>
          <a:noFill/>
          <a:ln>
            <a:noFill/>
          </a:ln>
        </p:spPr>
        <p:txBody>
          <a:bodyPr wrap="square" lIns="6350" tIns="3175" rIns="6350" bIns="3175" anchor="ctr">
            <a:noAutofit/>
          </a:bodyPr>
          <a:lstStyle/>
          <a:p>
            <a:pPr algn="ctr"/>
            <a:r>
              <a:rPr lang="en-US" sz="1200" dirty="0">
                <a:solidFill>
                  <a:srgbClr val="111111"/>
                </a:solidFill>
              </a:rPr>
              <a:t>Global mitigation cost</a:t>
            </a:r>
          </a:p>
        </p:txBody>
      </p:sp>
      <p:sp>
        <p:nvSpPr>
          <p:cNvPr id="314" name="b1_xLbl"/>
          <p:cNvSpPr txBox="1"/>
          <p:nvPr/>
        </p:nvSpPr>
        <p:spPr>
          <a:xfrm>
            <a:off x="7797800" y="2997198"/>
            <a:ext cx="363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" tIns="3175" rIns="6350" bIns="3175" anchor="ctr">
            <a:noAutofit/>
          </a:bodyPr>
          <a:lstStyle/>
          <a:p>
            <a:pPr algn="ctr"/>
            <a:r>
              <a:rPr lang="en-US" sz="1200" dirty="0">
                <a:solidFill>
                  <a:srgbClr val="111111"/>
                </a:solidFill>
              </a:rPr>
              <a:t>Regional effort distribution (</a:t>
            </a:r>
            <a:r>
              <a:rPr lang="en-US" sz="1200" i="1" dirty="0">
                <a:solidFill>
                  <a:srgbClr val="111111"/>
                </a:solidFill>
              </a:rPr>
              <a:t>y</a:t>
            </a:r>
            <a:r>
              <a:rPr lang="en-US" sz="1200" dirty="0">
                <a:solidFill>
                  <a:srgbClr val="111111"/>
                </a:solidFill>
              </a:rPr>
              <a:t> to </a:t>
            </a:r>
            <a:r>
              <a:rPr lang="en-US" sz="1200" i="1" dirty="0">
                <a:solidFill>
                  <a:srgbClr val="111111"/>
                </a:solidFill>
              </a:rPr>
              <a:t>z</a:t>
            </a:r>
            <a:r>
              <a:rPr lang="en-US" sz="1200" dirty="0">
                <a:solidFill>
                  <a:srgbClr val="111111"/>
                </a:solidFill>
              </a:rPr>
              <a:t>)</a:t>
            </a:r>
          </a:p>
        </p:txBody>
      </p:sp>
      <p:sp>
        <p:nvSpPr>
          <p:cNvPr id="315" name="b1_varII"/>
          <p:cNvSpPr txBox="1"/>
          <p:nvPr/>
        </p:nvSpPr>
        <p:spPr>
          <a:xfrm>
            <a:off x="8128000" y="1100665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6350" tIns="3175" rIns="6350" bIns="3175" anchor="ctr">
            <a:noAutofit/>
          </a:bodyPr>
          <a:lstStyle/>
          <a:p>
            <a:r>
              <a:rPr lang="en-US" sz="1200" dirty="0">
                <a:solidFill>
                  <a:srgbClr val="2B6CB8"/>
                </a:solidFill>
              </a:rPr>
              <a:t>Variant </a:t>
            </a:r>
            <a:r>
              <a:rPr lang="en-US" sz="1200" i="1" u="sng" dirty="0">
                <a:solidFill>
                  <a:srgbClr val="2B6CB8"/>
                </a:solidFill>
              </a:rPr>
              <a:t>ii</a:t>
            </a:r>
            <a:r>
              <a:rPr lang="en-US" sz="1200" dirty="0">
                <a:solidFill>
                  <a:srgbClr val="2B6CB8"/>
                </a:solidFill>
              </a:rPr>
              <a:t>  lowest-feasible transfers</a:t>
            </a:r>
          </a:p>
        </p:txBody>
      </p:sp>
      <p:sp>
        <p:nvSpPr>
          <p:cNvPr id="316" name="b1_varI"/>
          <p:cNvSpPr txBox="1"/>
          <p:nvPr/>
        </p:nvSpPr>
        <p:spPr>
          <a:xfrm>
            <a:off x="9353550" y="2263903"/>
            <a:ext cx="2082800" cy="406400"/>
          </a:xfrm>
          <a:prstGeom prst="rect">
            <a:avLst/>
          </a:prstGeom>
          <a:noFill/>
          <a:ln>
            <a:noFill/>
          </a:ln>
        </p:spPr>
        <p:txBody>
          <a:bodyPr wrap="square" lIns="6350" tIns="3175" rIns="6350" bIns="3175" anchor="ctr">
            <a:noAutofit/>
          </a:bodyPr>
          <a:lstStyle/>
          <a:p>
            <a:pPr algn="ctr"/>
            <a:r>
              <a:rPr lang="en-US" sz="1200" dirty="0">
                <a:solidFill>
                  <a:srgbClr val="D9261C"/>
                </a:solidFill>
              </a:rPr>
              <a:t>Variant </a:t>
            </a:r>
            <a:r>
              <a:rPr lang="en-US" sz="1200" i="1" u="sng" dirty="0">
                <a:solidFill>
                  <a:srgbClr val="D9261C"/>
                </a:solidFill>
              </a:rPr>
              <a:t>i</a:t>
            </a:r>
            <a:r>
              <a:rPr lang="en-US" sz="1200" dirty="0">
                <a:solidFill>
                  <a:srgbClr val="D9261C"/>
                </a:solidFill>
              </a:rPr>
              <a:t> unlimited transfers</a:t>
            </a:r>
          </a:p>
        </p:txBody>
      </p:sp>
      <p:cxnSp>
        <p:nvCxnSpPr>
          <p:cNvPr id="320" name="b2_yAx"/>
          <p:cNvCxnSpPr/>
          <p:nvPr/>
        </p:nvCxnSpPr>
        <p:spPr>
          <a:xfrm>
            <a:off x="7797800" y="3367313"/>
            <a:ext cx="0" cy="1905000"/>
          </a:xfrm>
          <a:prstGeom prst="line">
            <a:avLst/>
          </a:prstGeom>
          <a:ln w="15875" cap="rnd">
            <a:solidFill>
              <a:srgbClr val="141414"/>
            </a:solidFill>
            <a:headEnd type="triangle" w="med" len="med"/>
            <a:tailEnd type="none"/>
          </a:ln>
        </p:spPr>
      </p:cxnSp>
      <p:cxnSp>
        <p:nvCxnSpPr>
          <p:cNvPr id="321" name="b2_xAx"/>
          <p:cNvCxnSpPr/>
          <p:nvPr/>
        </p:nvCxnSpPr>
        <p:spPr>
          <a:xfrm>
            <a:off x="7797800" y="5272313"/>
            <a:ext cx="3632200" cy="0"/>
          </a:xfrm>
          <a:prstGeom prst="line">
            <a:avLst/>
          </a:prstGeom>
          <a:ln w="15875" cap="rnd">
            <a:solidFill>
              <a:srgbClr val="141414"/>
            </a:solidFill>
            <a:headEnd type="none"/>
            <a:tailEnd type="triangle" w="med" len="med"/>
          </a:ln>
        </p:spPr>
      </p:cxnSp>
      <p:sp>
        <p:nvSpPr>
          <p:cNvPr id="322" name="b2_red"/>
          <p:cNvSpPr/>
          <p:nvPr/>
        </p:nvSpPr>
        <p:spPr>
          <a:xfrm>
            <a:off x="7874000" y="3494313"/>
            <a:ext cx="3403600" cy="1676400"/>
          </a:xfrm>
          <a:custGeom>
            <a:avLst/>
            <a:gdLst/>
            <a:ahLst/>
            <a:cxnLst/>
            <a:rect l="0" t="0" r="2680" b="1320"/>
            <a:pathLst>
              <a:path w="2680" h="1320">
                <a:moveTo>
                  <a:pt x="0" y="1300"/>
                </a:moveTo>
                <a:cubicBezTo>
                  <a:pt x="500" y="380"/>
                  <a:pt x="1500" y="0"/>
                  <a:pt x="2680" y="210"/>
                </a:cubicBezTo>
              </a:path>
            </a:pathLst>
          </a:custGeom>
          <a:noFill/>
          <a:ln w="50800" cap="rnd">
            <a:solidFill>
              <a:srgbClr val="D9261C"/>
            </a:solidFill>
            <a:prstDash val="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4" name="b2_yLbl"/>
          <p:cNvSpPr txBox="1"/>
          <p:nvPr/>
        </p:nvSpPr>
        <p:spPr>
          <a:xfrm rot="16200000">
            <a:off x="6667500" y="4230913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6350" tIns="3175" rIns="6350" bIns="3175" anchor="ctr">
            <a:noAutofit/>
          </a:bodyPr>
          <a:lstStyle/>
          <a:p>
            <a:pPr algn="ctr"/>
            <a:r>
              <a:rPr lang="en-US" sz="1200" dirty="0">
                <a:solidFill>
                  <a:srgbClr val="111111"/>
                </a:solidFill>
              </a:rPr>
              <a:t>Cumulative CO</a:t>
            </a:r>
            <a:r>
              <a:rPr lang="en-US" sz="1200" baseline="-25000" dirty="0">
                <a:solidFill>
                  <a:srgbClr val="111111"/>
                </a:solidFill>
              </a:rPr>
              <a:t>2</a:t>
            </a:r>
            <a:r>
              <a:rPr lang="en-US" sz="1200" dirty="0">
                <a:solidFill>
                  <a:srgbClr val="111111"/>
                </a:solidFill>
              </a:rPr>
              <a:t> emissions</a:t>
            </a:r>
          </a:p>
        </p:txBody>
      </p:sp>
      <p:sp>
        <p:nvSpPr>
          <p:cNvPr id="325" name="b2_redLbl"/>
          <p:cNvSpPr txBox="1"/>
          <p:nvPr/>
        </p:nvSpPr>
        <p:spPr>
          <a:xfrm>
            <a:off x="8763000" y="3357985"/>
            <a:ext cx="2692400" cy="203200"/>
          </a:xfrm>
          <a:prstGeom prst="rect">
            <a:avLst/>
          </a:prstGeom>
          <a:noFill/>
          <a:ln>
            <a:noFill/>
          </a:ln>
        </p:spPr>
        <p:txBody>
          <a:bodyPr wrap="square" lIns="6350" tIns="3175" rIns="6350" bIns="3175" anchor="ctr">
            <a:noAutofit/>
          </a:bodyPr>
          <a:lstStyle/>
          <a:p>
            <a:pPr algn="ctr"/>
            <a:r>
              <a:rPr lang="en-US" sz="1200" i="1" u="sng" dirty="0">
                <a:solidFill>
                  <a:srgbClr val="D9261C"/>
                </a:solidFill>
              </a:rPr>
              <a:t>i</a:t>
            </a:r>
            <a:r>
              <a:rPr lang="en-US" sz="1200" dirty="0">
                <a:solidFill>
                  <a:srgbClr val="D9261C"/>
                </a:solidFill>
              </a:rPr>
              <a:t> Same trajectory as source scenario</a:t>
            </a:r>
          </a:p>
        </p:txBody>
      </p:sp>
      <p:sp>
        <p:nvSpPr>
          <p:cNvPr id="326" name="b2_blueLbl"/>
          <p:cNvSpPr txBox="1"/>
          <p:nvPr/>
        </p:nvSpPr>
        <p:spPr>
          <a:xfrm>
            <a:off x="8636000" y="4789713"/>
            <a:ext cx="2819400" cy="381000"/>
          </a:xfrm>
          <a:prstGeom prst="rect">
            <a:avLst/>
          </a:prstGeom>
          <a:noFill/>
          <a:ln>
            <a:noFill/>
          </a:ln>
        </p:spPr>
        <p:txBody>
          <a:bodyPr wrap="square" lIns="6350" tIns="3175" rIns="6350" bIns="3175" anchor="ctr">
            <a:noAutofit/>
          </a:bodyPr>
          <a:lstStyle/>
          <a:p>
            <a:pPr algn="ctr"/>
            <a:r>
              <a:rPr lang="en-US" sz="1200" i="1" u="sng" dirty="0">
                <a:solidFill>
                  <a:srgbClr val="2B6CB8"/>
                </a:solidFill>
              </a:rPr>
              <a:t>ii</a:t>
            </a:r>
            <a:r>
              <a:rPr lang="en-US" sz="1200" dirty="0">
                <a:solidFill>
                  <a:srgbClr val="2B6CB8"/>
                </a:solidFill>
              </a:rPr>
              <a:t> Same end of century cumulative emissions as source scenario</a:t>
            </a:r>
          </a:p>
        </p:txBody>
      </p:sp>
      <p:cxnSp>
        <p:nvCxnSpPr>
          <p:cNvPr id="327" name="b2_redArr"/>
          <p:cNvCxnSpPr>
            <a:cxnSpLocks/>
          </p:cNvCxnSpPr>
          <p:nvPr/>
        </p:nvCxnSpPr>
        <p:spPr>
          <a:xfrm flipH="1">
            <a:off x="9612934" y="3553115"/>
            <a:ext cx="102566" cy="187198"/>
          </a:xfrm>
          <a:prstGeom prst="line">
            <a:avLst/>
          </a:prstGeom>
          <a:ln w="12700" cap="rnd">
            <a:solidFill>
              <a:srgbClr val="D9261C"/>
            </a:solidFill>
            <a:headEnd type="none"/>
            <a:tailEnd type="triangle" w="med" len="med"/>
          </a:ln>
        </p:spPr>
      </p:cxnSp>
      <p:cxnSp>
        <p:nvCxnSpPr>
          <p:cNvPr id="328" name="b2_blueArr"/>
          <p:cNvCxnSpPr>
            <a:cxnSpLocks/>
          </p:cNvCxnSpPr>
          <p:nvPr/>
        </p:nvCxnSpPr>
        <p:spPr>
          <a:xfrm flipH="1">
            <a:off x="10668000" y="3824513"/>
            <a:ext cx="508000" cy="965200"/>
          </a:xfrm>
          <a:prstGeom prst="line">
            <a:avLst/>
          </a:prstGeom>
          <a:ln w="12700" cap="rnd">
            <a:solidFill>
              <a:srgbClr val="2B6CB8"/>
            </a:solidFill>
            <a:headEnd type="triangle" w="med" len="med"/>
            <a:tailEnd type="none"/>
          </a:ln>
        </p:spPr>
      </p:cxnSp>
      <p:sp>
        <p:nvSpPr>
          <p:cNvPr id="329" name="b_leg1"/>
          <p:cNvSpPr txBox="1"/>
          <p:nvPr/>
        </p:nvSpPr>
        <p:spPr>
          <a:xfrm>
            <a:off x="7289800" y="5602884"/>
            <a:ext cx="4216400" cy="279400"/>
          </a:xfrm>
          <a:prstGeom prst="rect">
            <a:avLst/>
          </a:prstGeom>
          <a:noFill/>
          <a:ln>
            <a:noFill/>
          </a:ln>
        </p:spPr>
        <p:txBody>
          <a:bodyPr wrap="square" lIns="6350" tIns="3175" rIns="6350" bIns="3175" anchor="ctr">
            <a:noAutofit/>
          </a:bodyPr>
          <a:lstStyle/>
          <a:p>
            <a:r>
              <a:rPr lang="en-US" sz="1200" dirty="0">
                <a:solidFill>
                  <a:srgbClr val="D9261C"/>
                </a:solidFill>
              </a:rPr>
              <a:t>Unlimited</a:t>
            </a:r>
            <a:r>
              <a:rPr lang="en-US" sz="1200" dirty="0">
                <a:solidFill>
                  <a:srgbClr val="111111"/>
                </a:solidFill>
              </a:rPr>
              <a:t> transfers (reproduces source pathways)</a:t>
            </a:r>
          </a:p>
        </p:txBody>
      </p:sp>
      <p:sp>
        <p:nvSpPr>
          <p:cNvPr id="330" name="b_leg2"/>
          <p:cNvSpPr txBox="1"/>
          <p:nvPr/>
        </p:nvSpPr>
        <p:spPr>
          <a:xfrm>
            <a:off x="7289800" y="5837088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6350" tIns="3175" rIns="6350" bIns="3175" anchor="ctr">
            <a:noAutofit/>
          </a:bodyPr>
          <a:lstStyle/>
          <a:p>
            <a:r>
              <a:rPr lang="en-US" sz="1200" dirty="0">
                <a:solidFill>
                  <a:srgbClr val="2B6CB8"/>
                </a:solidFill>
              </a:rPr>
              <a:t>Lowest-feasible</a:t>
            </a:r>
            <a:r>
              <a:rPr lang="en-US" sz="1200" dirty="0">
                <a:solidFill>
                  <a:srgbClr val="111111"/>
                </a:solidFill>
              </a:rPr>
              <a:t> transfers (minimises interregional finance)</a:t>
            </a:r>
          </a:p>
        </p:txBody>
      </p:sp>
      <p:sp>
        <p:nvSpPr>
          <p:cNvPr id="58" name="g2_purple">
            <a:extLst>
              <a:ext uri="{FF2B5EF4-FFF2-40B4-BE49-F238E27FC236}">
                <a16:creationId xmlns:a16="http://schemas.microsoft.com/office/drawing/2014/main" id="{2C8E489D-9BDC-897B-FDAA-6A74E47E2005}"/>
              </a:ext>
            </a:extLst>
          </p:cNvPr>
          <p:cNvSpPr/>
          <p:nvPr/>
        </p:nvSpPr>
        <p:spPr>
          <a:xfrm>
            <a:off x="4102100" y="1898741"/>
            <a:ext cx="177800" cy="609600"/>
          </a:xfrm>
          <a:prstGeom prst="rect">
            <a:avLst/>
          </a:prstGeom>
          <a:solidFill>
            <a:srgbClr val="A427A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b1_redDot">
            <a:extLst>
              <a:ext uri="{FF2B5EF4-FFF2-40B4-BE49-F238E27FC236}">
                <a16:creationId xmlns:a16="http://schemas.microsoft.com/office/drawing/2014/main" id="{71C42B3C-9994-65AD-DC2F-A889D42CFE44}"/>
              </a:ext>
            </a:extLst>
          </p:cNvPr>
          <p:cNvSpPr/>
          <p:nvPr/>
        </p:nvSpPr>
        <p:spPr>
          <a:xfrm>
            <a:off x="11117250" y="2798748"/>
            <a:ext cx="54000" cy="54000"/>
          </a:xfrm>
          <a:prstGeom prst="ellipse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64" name="Picture 263">
            <a:extLst>
              <a:ext uri="{FF2B5EF4-FFF2-40B4-BE49-F238E27FC236}">
                <a16:creationId xmlns:a16="http://schemas.microsoft.com/office/drawing/2014/main" id="{EFE34969-6D2C-7996-D276-D11783974E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013"/>
          <a:stretch>
            <a:fillRect/>
          </a:stretch>
        </p:blipFill>
        <p:spPr>
          <a:xfrm>
            <a:off x="7874000" y="3728940"/>
            <a:ext cx="3352798" cy="1422400"/>
          </a:xfrm>
          <a:prstGeom prst="rect">
            <a:avLst/>
          </a:prstGeom>
        </p:spPr>
      </p:pic>
      <p:sp>
        <p:nvSpPr>
          <p:cNvPr id="372" name="cap5">
            <a:extLst>
              <a:ext uri="{FF2B5EF4-FFF2-40B4-BE49-F238E27FC236}">
                <a16:creationId xmlns:a16="http://schemas.microsoft.com/office/drawing/2014/main" id="{06F33C42-D3BA-22C7-0698-039E10B6693D}"/>
              </a:ext>
            </a:extLst>
          </p:cNvPr>
          <p:cNvSpPr txBox="1"/>
          <p:nvPr/>
        </p:nvSpPr>
        <p:spPr>
          <a:xfrm>
            <a:off x="1060449" y="531270"/>
            <a:ext cx="4701357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50" b="1" dirty="0">
                <a:solidFill>
                  <a:srgbClr val="111111"/>
                </a:solidFill>
              </a:rPr>
              <a:t>Derive fair-share variants from an existing mitigation pathway</a:t>
            </a:r>
          </a:p>
        </p:txBody>
      </p:sp>
      <p:sp>
        <p:nvSpPr>
          <p:cNvPr id="375" name="Arc 374">
            <a:extLst>
              <a:ext uri="{FF2B5EF4-FFF2-40B4-BE49-F238E27FC236}">
                <a16:creationId xmlns:a16="http://schemas.microsoft.com/office/drawing/2014/main" id="{0B370EE9-2329-0D03-6AC1-915E3B93DFA3}"/>
              </a:ext>
            </a:extLst>
          </p:cNvPr>
          <p:cNvSpPr/>
          <p:nvPr/>
        </p:nvSpPr>
        <p:spPr>
          <a:xfrm flipH="1" flipV="1">
            <a:off x="8064498" y="1558792"/>
            <a:ext cx="831849" cy="805247"/>
          </a:xfrm>
          <a:prstGeom prst="arc">
            <a:avLst>
              <a:gd name="adj1" fmla="val 16902893"/>
              <a:gd name="adj2" fmla="val 20587747"/>
            </a:avLst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13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4240D2-D520-7B4B-8CBF-8B35185B527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abacd67-0c59-4e0b-9b6f-7500af5a352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174</Words>
  <Application>Microsoft Macintosh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PELZ Setu</dc:creator>
  <cp:lastModifiedBy>PELZ Setu</cp:lastModifiedBy>
  <cp:revision>1</cp:revision>
  <dcterms:created xsi:type="dcterms:W3CDTF">2026-07-07T11:54:47Z</dcterms:created>
  <dcterms:modified xsi:type="dcterms:W3CDTF">2026-07-07T13:03:26Z</dcterms:modified>
</cp:coreProperties>
</file>